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0">
            <a:off x="9601200" y="-457200"/>
            <a:ext cx="457200" cy="8229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200000">
            <a:off x="10424160" y="-457200"/>
            <a:ext cx="457200" cy="822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EAFE"/>
                </a:solidFill>
                <a:latin typeface="Malgun Gothic"/>
                <a:ea typeface="Malgun Gothic"/>
              </a:rPr>
              <a:t>2026  ·  졸업 프로젝트 중간발표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FFFFFF"/>
                </a:solidFill>
                <a:latin typeface="Malgun Gothic"/>
                <a:ea typeface="Malgun Gothic"/>
              </a:rPr>
              <a:t>같은 26°C, 다른 쾌적도</a:t>
            </a:r>
            <a:r>
              <a:rPr sz="5800" b="0" i="0">
                <a:solidFill>
                  <a:srgbClr val="FFFFFF"/>
                </a:solidFill>
                <a:latin typeface="Malgun Gothic"/>
                <a:ea typeface="Malgun Gothic"/>
              </a:rPr>
              <a:t>  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DBEAFE"/>
                </a:solidFill>
                <a:latin typeface="Malgun Gothic"/>
                <a:ea typeface="Malgun Gothic"/>
              </a:rPr>
              <a:t>카메라로 </a:t>
            </a:r>
            <a:r>
              <a:rPr sz="3400" b="1" i="0">
                <a:solidFill>
                  <a:srgbClr val="FFFFFF"/>
                </a:solidFill>
                <a:latin typeface="Malgun Gothic"/>
                <a:ea typeface="Malgun Gothic"/>
              </a:rPr>
              <a:t>공간의 맥락</a:t>
            </a:r>
            <a:r>
              <a:rPr sz="3400" b="1" i="0">
                <a:solidFill>
                  <a:srgbClr val="DBEAFE"/>
                </a:solidFill>
                <a:latin typeface="Malgun Gothic"/>
                <a:ea typeface="Malgun Gothic"/>
              </a:rPr>
              <a:t>을 읽는 HVAC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  <a:ea typeface="Malgun Gothic"/>
              </a:rPr>
              <a:t>Edge VLM(Qwen2-VL) + YOLOv8 + Motion 인식  →  ISO 7730 PMV  →  PID 제어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4709160"/>
            <a:ext cx="521208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9377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</a:rPr>
              <a:t>김준경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Malgun Gothic"/>
                <a:ea typeface="Malgun Gothic"/>
              </a:rPr>
              <a:t>VLM·Perception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9377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</a:rPr>
              <a:t>김철호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34924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Malgun Gothic"/>
                <a:ea typeface="Malgun Gothic"/>
              </a:rPr>
              <a:t>PM·Integration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9377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</a:rPr>
              <a:t>김민서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34924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Malgun Gothic"/>
                <a:ea typeface="Malgun Gothic"/>
              </a:rPr>
              <a:t>PMV·Control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9377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</a:rPr>
              <a:t>정윤찬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34924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Malgun Gothic"/>
                <a:ea typeface="Malgun Gothic"/>
              </a:rPr>
              <a:t>Data·Sensors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6126480"/>
            <a:ext cx="10698480" cy="0"/>
          </a:xfrm>
          <a:prstGeom prst="line">
            <a:avLst/>
          </a:prstGeom>
          <a:ln w="127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Malgun Gothic"/>
                <a:ea typeface="Malgun Gothic"/>
              </a:rPr>
              <a:t>동아대학교 컴퓨터공학과  ·  지도 정영진 교수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26364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DBEAFE"/>
                </a:solidFill>
                <a:latin typeface="Malgun Gothic"/>
                <a:ea typeface="Malgun Gothic"/>
              </a:rPr>
              <a:t>2026. 04. 17.   /   aioss실습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1B3C"/>
                </a:solidFill>
                <a:latin typeface="Malgun Gothic"/>
                <a:ea typeface="Malgun Gothic"/>
              </a:rPr>
              <a:t>왜 온도만으론 부족한가?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Malgun Gothic"/>
                <a:ea typeface="Malgun Gothic"/>
              </a:rPr>
              <a:t>같은 26°C에서 체감은 PMV -0.7 ~ +1.8까지 벌어진다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Edge VLM HVAC  /  중간발표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566160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F1B3C"/>
                </a:solidFill>
                <a:latin typeface="Malgun Gothic"/>
                <a:ea typeface="Malgun Gothic"/>
              </a:rPr>
              <a:t>① 사무실 · 앉아서 작업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실내 26.0°C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69748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269748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MET 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algun Gothic"/>
                <a:ea typeface="Malgun Gothic"/>
              </a:rPr>
              <a:t>· CLO 0.7 (긴팔)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566159"/>
            <a:ext cx="30175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370332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 i="0">
                <a:solidFill>
                  <a:srgbClr val="059669"/>
                </a:solidFill>
                <a:latin typeface="Malgun Gothic"/>
                <a:ea typeface="Malgun Gothic"/>
              </a:rPr>
              <a:t>+0.2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26280"/>
            <a:ext cx="3566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Malgun Gothic"/>
                <a:ea typeface="Malgun Gothic"/>
              </a:rPr>
              <a:t>PMV  ·  중립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69164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691640"/>
            <a:ext cx="3566160" cy="274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14884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F1B3C"/>
                </a:solidFill>
                <a:latin typeface="Malgun Gothic"/>
                <a:ea typeface="Malgun Gothic"/>
              </a:rPr>
              <a:t>② 헬스장 · 운동 직후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2697480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실내 26.0°C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69748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69748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MET 3.0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15468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algun Gothic"/>
                <a:ea typeface="Malgun Gothic"/>
              </a:rPr>
              <a:t>· CLO 0.3 (반팔)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26280" y="3566159"/>
            <a:ext cx="30175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51960" y="370332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 i="0">
                <a:solidFill>
                  <a:srgbClr val="DC2626"/>
                </a:solidFill>
                <a:latin typeface="Malgun Gothic"/>
                <a:ea typeface="Malgun Gothic"/>
              </a:rPr>
              <a:t>+1.8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4526280"/>
            <a:ext cx="3566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Malgun Gothic"/>
                <a:ea typeface="Malgun Gothic"/>
              </a:rPr>
              <a:t>PMV  ·  매우 더움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69164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1691640"/>
            <a:ext cx="356616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14884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F1B3C"/>
                </a:solidFill>
                <a:latin typeface="Malgun Gothic"/>
                <a:ea typeface="Malgun Gothic"/>
              </a:rPr>
              <a:t>③ 외투 착용 · 퇴실 직전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2697480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69748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실내 26.0°C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269748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269748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MET 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15468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algun Gothic"/>
                <a:ea typeface="Malgun Gothic"/>
              </a:rPr>
              <a:t>· CLO 1.4 (외투)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21040" y="3566159"/>
            <a:ext cx="30175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046720" y="370332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 i="0">
                <a:solidFill>
                  <a:srgbClr val="2563EB"/>
                </a:solidFill>
                <a:latin typeface="Malgun Gothic"/>
                <a:ea typeface="Malgun Gothic"/>
              </a:rPr>
              <a:t>-0.7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526280"/>
            <a:ext cx="3566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Malgun Gothic"/>
                <a:ea typeface="Malgun Gothic"/>
              </a:rPr>
              <a:t>PMV  ·  약간 서늘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48640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 w="9525">
            <a:solidFill>
              <a:srgbClr val="0F1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BEAFE"/>
                </a:solidFill>
                <a:latin typeface="Malgun Gothic"/>
                <a:ea typeface="Malgun Gothic"/>
              </a:rPr>
              <a:t>💡  같은 온도라도 </a:t>
            </a: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</a:rPr>
              <a:t>활동량 · 의복 · 맥락</a:t>
            </a:r>
            <a:r>
              <a:rPr sz="1800" b="1" i="0">
                <a:solidFill>
                  <a:srgbClr val="DBEAFE"/>
                </a:solidFill>
                <a:latin typeface="Malgun Gothic"/>
                <a:ea typeface="Malgun Gothic"/>
              </a:rPr>
              <a:t>이 바뀌면 체감은 완전히 다르다.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</a:rPr>
              <a:t>→ </a:t>
            </a: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</a:rPr>
              <a:t>온도 센서만으로는 쾌적을 결정할 수 없으며, </a:t>
            </a:r>
            <a:r>
              <a:rPr sz="1400" b="1" i="0">
                <a:solidFill>
                  <a:srgbClr val="DBEAFE"/>
                </a:solidFill>
                <a:latin typeface="Malgun Gothic"/>
                <a:ea typeface="Malgun Gothic"/>
              </a:rPr>
              <a:t>사람의 상태(MET/CLO)를 '보는' 센서</a:t>
            </a: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</a:rPr>
              <a:t>가 필요하다.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611112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동아대학교 컴퓨터공학과  ·  KAJ Edge-VLM HVAC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1B3C"/>
                </a:solidFill>
                <a:latin typeface="Malgun Gothic"/>
                <a:ea typeface="Malgun Gothic"/>
              </a:rPr>
              <a:t>전체 흐름: 3-STEP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Malgun Gothic"/>
                <a:ea typeface="Malgun Gothic"/>
              </a:rPr>
              <a:t>인식(Perception) → 판단(Decision) → 제어(Control)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Edge VLM HVAC  /  중간발표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178308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327" y="20574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327" y="205740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2560320"/>
            <a:ext cx="2926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F1B3C"/>
                </a:solidFill>
                <a:latin typeface="Malgun Gothic"/>
                <a:ea typeface="Malgun Gothic"/>
              </a:rPr>
              <a:t>인식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32918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Malgun Gothic"/>
                <a:ea typeface="Malgun Gothic"/>
              </a:rPr>
              <a:t>Perception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2327.5" y="3657599"/>
            <a:ext cx="2926080.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38047" y="3950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0927" y="384048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Malgun Gothic"/>
                <a:ea typeface="Malgun Gothic"/>
              </a:rPr>
              <a:t>YOLOv8n · 3초 주기 · 사람 수</a:t>
            </a:r>
          </a:p>
        </p:txBody>
      </p:sp>
      <p:sp>
        <p:nvSpPr>
          <p:cNvPr id="15" name="Oval 14"/>
          <p:cNvSpPr/>
          <p:nvPr/>
        </p:nvSpPr>
        <p:spPr>
          <a:xfrm>
            <a:off x="838047" y="45445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927" y="44348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Malgun Gothic"/>
                <a:ea typeface="Malgun Gothic"/>
              </a:rPr>
              <a:t>Qwen2-VL · 30초 주기 · 의복/활동</a:t>
            </a:r>
          </a:p>
        </p:txBody>
      </p:sp>
      <p:sp>
        <p:nvSpPr>
          <p:cNvPr id="17" name="Oval 16"/>
          <p:cNvSpPr/>
          <p:nvPr/>
        </p:nvSpPr>
        <p:spPr>
          <a:xfrm>
            <a:off x="838047" y="513892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0927" y="502920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Malgun Gothic"/>
                <a:ea typeface="Malgun Gothic"/>
              </a:rPr>
              <a:t>Motion Detector · 실시간 · MET 오버라이드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38447" y="3657599"/>
            <a:ext cx="274320" cy="457200"/>
          </a:xfrm>
          <a:prstGeom prst="rightArrow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58487" y="178308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32807" y="20574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2807" y="205740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STEP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2807" y="2560320"/>
            <a:ext cx="2926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F1B3C"/>
                </a:solidFill>
                <a:latin typeface="Malgun Gothic"/>
                <a:ea typeface="Malgun Gothic"/>
              </a:rPr>
              <a:t>판단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807" y="32918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Malgun Gothic"/>
                <a:ea typeface="Malgun Gothic"/>
              </a:rPr>
              <a:t>Decision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32807.5" y="3657599"/>
            <a:ext cx="2926080.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678527" y="395020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1407" y="384048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Malgun Gothic"/>
                <a:ea typeface="Malgun Gothic"/>
              </a:rPr>
              <a:t>ISO 7730 PMV 계산 (-3 ~ +3)</a:t>
            </a:r>
          </a:p>
        </p:txBody>
      </p:sp>
      <p:sp>
        <p:nvSpPr>
          <p:cNvPr id="28" name="Oval 27"/>
          <p:cNvSpPr/>
          <p:nvPr/>
        </p:nvSpPr>
        <p:spPr>
          <a:xfrm>
            <a:off x="4678527" y="454456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1407" y="44348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Malgun Gothic"/>
                <a:ea typeface="Malgun Gothic"/>
              </a:rPr>
              <a:t>히스테리시스 (ON 0.5 / OFF 0.2)</a:t>
            </a:r>
          </a:p>
        </p:txBody>
      </p:sp>
      <p:sp>
        <p:nvSpPr>
          <p:cNvPr id="30" name="Oval 29"/>
          <p:cNvSpPr/>
          <p:nvPr/>
        </p:nvSpPr>
        <p:spPr>
          <a:xfrm>
            <a:off x="4678527" y="513892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1407" y="502920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Malgun Gothic"/>
                <a:ea typeface="Malgun Gothic"/>
              </a:rPr>
              <a:t>5단계 상태머신 · 동적 목표온도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878927" y="3657599"/>
            <a:ext cx="274320" cy="457200"/>
          </a:xfrm>
          <a:prstGeom prst="rightArrow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98967" y="178308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73287" y="20574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3287" y="205740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STEP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3287" y="2560320"/>
            <a:ext cx="2926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F1B3C"/>
                </a:solidFill>
                <a:latin typeface="Malgun Gothic"/>
                <a:ea typeface="Malgun Gothic"/>
              </a:rPr>
              <a:t>제어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3287" y="32918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Malgun Gothic"/>
                <a:ea typeface="Malgun Gothic"/>
              </a:rPr>
              <a:t>Control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73287.5" y="3657599"/>
            <a:ext cx="2926080.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519007" y="3950208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01887" y="384048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Malgun Gothic"/>
                <a:ea typeface="Malgun Gothic"/>
              </a:rPr>
              <a:t>PID · kp=0.8 / ki=0.05 / kd=0.3</a:t>
            </a:r>
          </a:p>
        </p:txBody>
      </p:sp>
      <p:sp>
        <p:nvSpPr>
          <p:cNvPr id="41" name="Oval 40"/>
          <p:cNvSpPr/>
          <p:nvPr/>
        </p:nvSpPr>
        <p:spPr>
          <a:xfrm>
            <a:off x="8519007" y="4544568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01887" y="44348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Malgun Gothic"/>
                <a:ea typeface="Malgun Gothic"/>
              </a:rPr>
              <a:t>deadband 0.12 · anti-windup ±10</a:t>
            </a:r>
          </a:p>
        </p:txBody>
      </p:sp>
      <p:sp>
        <p:nvSpPr>
          <p:cNvPr id="43" name="Oval 42"/>
          <p:cNvSpPr/>
          <p:nvPr/>
        </p:nvSpPr>
        <p:spPr>
          <a:xfrm>
            <a:off x="8519007" y="5138928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01887" y="502920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Malgun Gothic"/>
                <a:ea typeface="Malgun Gothic"/>
              </a:rPr>
              <a:t>공간별 프로파일(사무실/헬스장 등)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611112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동아대학교 컴퓨터공학과  ·  KAJ Edge-VLM HVAC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1B3C"/>
                </a:solidFill>
                <a:latin typeface="Malgun Gothic"/>
                <a:ea typeface="Malgun Gothic"/>
              </a:rPr>
              <a:t>인식(STEP 01) · 3개 모델의 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Malgun Gothic"/>
                <a:ea typeface="Malgun Gothic"/>
              </a:rPr>
              <a:t>느린 모델·빠른 모델을 병렬로 돌려 정확도와 반응 속도를 모두 확보한다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Edge VLM HVAC  /  중간발표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46304" cy="4023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94767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16459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Malgun Gothic"/>
                <a:ea typeface="Malgun Gothic"/>
              </a:rPr>
              <a:t>YOLOv8n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F1B3C"/>
                </a:solidFill>
                <a:latin typeface="Malgun Gothic"/>
                <a:ea typeface="Malgun Gothic"/>
              </a:rPr>
              <a:t>사람 수 카운팅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1">
                <a:solidFill>
                  <a:srgbClr val="2563EB"/>
                </a:solidFill>
                <a:latin typeface="Malgun Gothic"/>
                <a:ea typeface="Malgun Gothic"/>
              </a:rPr>
              <a:t>누가 있는가?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algun Gothic"/>
                <a:ea typeface="Malgun Gothic"/>
              </a:rPr>
              <a:t>재실 인원 · 밀도 · 혼잡도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931920"/>
            <a:ext cx="3063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1148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1148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  <a:ea typeface="Malgun Gothic"/>
              </a:rPr>
              <a:t>3초 / 90프레임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617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  <a:ea typeface="Malgun Gothic"/>
              </a:rPr>
              <a:t>95% 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대상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12064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  <a:ea typeface="Malgun Gothic"/>
              </a:rPr>
              <a:t>class 0 (person)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69164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691640"/>
            <a:ext cx="146304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0" y="194767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947672"/>
            <a:ext cx="16459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Malgun Gothic"/>
                <a:ea typeface="Malgun Gothic"/>
              </a:rPr>
              <a:t>Qwen2-VL 2B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42316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F1B3C"/>
                </a:solidFill>
                <a:latin typeface="Malgun Gothic"/>
                <a:ea typeface="Malgun Gothic"/>
              </a:rPr>
              <a:t>맥락 이해 (VLM)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06324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1">
                <a:solidFill>
                  <a:srgbClr val="7C3AED"/>
                </a:solidFill>
                <a:latin typeface="Malgun Gothic"/>
                <a:ea typeface="Malgun Gothic"/>
              </a:rPr>
              <a:t>무엇을 하고 있는가?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42900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algun Gothic"/>
                <a:ea typeface="Malgun Gothic"/>
              </a:rPr>
              <a:t>의복 · 활동 · 퇴실 의도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0" y="3931920"/>
            <a:ext cx="3063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17720" y="41148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주기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1148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  <a:ea typeface="Malgun Gothic"/>
              </a:rPr>
              <a:t>30초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177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출력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617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  <a:ea typeface="Malgun Gothic"/>
              </a:rPr>
              <a:t>JSON (CLO/MET/상태)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1206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디바이스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512064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  <a:ea typeface="Malgun Gothic"/>
              </a:rPr>
              <a:t>Jetson 온디바이스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169164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1691640"/>
            <a:ext cx="146304" cy="4023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66760" y="194767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1947672"/>
            <a:ext cx="16459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Malgun Gothic"/>
                <a:ea typeface="Malgun Gothic"/>
              </a:rPr>
              <a:t>Motion Detector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242316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F1B3C"/>
                </a:solidFill>
                <a:latin typeface="Malgun Gothic"/>
                <a:ea typeface="Malgun Gothic"/>
              </a:rPr>
              <a:t>실시간 움직임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06324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1">
                <a:solidFill>
                  <a:srgbClr val="059669"/>
                </a:solidFill>
                <a:latin typeface="Malgun Gothic"/>
                <a:ea typeface="Malgun Gothic"/>
              </a:rPr>
              <a:t>얼마나 활발한가?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342900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Malgun Gothic"/>
                <a:ea typeface="Malgun Gothic"/>
              </a:rPr>
              <a:t>급격한 상태 변화 즉시 반영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366760" y="3931920"/>
            <a:ext cx="3063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12480" y="41148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주기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1148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  <a:ea typeface="Malgun Gothic"/>
              </a:rPr>
              <a:t>매 프레임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6177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기법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617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  <a:ea typeface="Malgun Gothic"/>
              </a:rPr>
              <a:t>frame diff + rolling avg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1206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역할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12064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  <a:ea typeface="Malgun Gothic"/>
              </a:rPr>
              <a:t>MET 오버라이드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943600"/>
            <a:ext cx="11274552" cy="54864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 w="9525">
            <a:solidFill>
              <a:srgbClr val="0F1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BEAFE"/>
                </a:solidFill>
                <a:latin typeface="Malgun Gothic"/>
                <a:ea typeface="Malgun Gothic"/>
              </a:rPr>
              <a:t>3개 출력 융합 →  </a:t>
            </a: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인원 × CLO × MET</a:t>
            </a:r>
            <a:r>
              <a:rPr sz="1400" b="1" i="0">
                <a:solidFill>
                  <a:srgbClr val="DBEAFE"/>
                </a:solidFill>
                <a:latin typeface="Malgun Gothic"/>
                <a:ea typeface="Malgun Gothic"/>
              </a:rPr>
              <a:t>  →  PMV 입력 (다음 단계)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611112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동아대학교 컴퓨터공학과  ·  KAJ Edge-VLM HVAC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1B3C"/>
                </a:solidFill>
                <a:latin typeface="Malgun Gothic"/>
                <a:ea typeface="Malgun Gothic"/>
              </a:rPr>
              <a:t>판단(STEP 02) · 맥락을 수치로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Malgun Gothic"/>
                <a:ea typeface="Malgun Gothic"/>
              </a:rPr>
              <a:t>VLM JSON → (CLO, MET) → ISO 7730 PMV → 150회 tcl 수렴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Edge VLM HVAC  /  중간발표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56692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VLM JSON 출력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081024"/>
          </a:solidFill>
          <a:ln>
            <a:solidFill>
              <a:srgbClr val="081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7548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  <a:ea typeface="Consolas"/>
              </a:rPr>
              <a:t>{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  <a:ea typeface="Consolas"/>
              </a:rPr>
              <a:t>  "clothing_level": </a:t>
            </a:r>
            <a:r>
              <a:rPr sz="1300" b="1" i="0">
                <a:solidFill>
                  <a:srgbClr val="CFFAFE"/>
                </a:solidFill>
                <a:latin typeface="Consolas"/>
                <a:ea typeface="Consolas"/>
              </a:rPr>
              <a:t>"light"</a:t>
            </a:r>
            <a:r>
              <a:rPr sz="1300" b="0" i="0">
                <a:solidFill>
                  <a:srgbClr val="FFFFFF"/>
                </a:solidFill>
                <a:latin typeface="Consolas"/>
                <a:ea typeface="Consolas"/>
              </a:rPr>
              <a:t>,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  <a:ea typeface="Consolas"/>
              </a:rPr>
              <a:t>  "activity_level": </a:t>
            </a:r>
            <a:r>
              <a:rPr sz="1300" b="1" i="0">
                <a:solidFill>
                  <a:srgbClr val="CFFAFE"/>
                </a:solidFill>
                <a:latin typeface="Consolas"/>
                <a:ea typeface="Consolas"/>
              </a:rPr>
              <a:t>"moderate"</a:t>
            </a:r>
            <a:r>
              <a:rPr sz="1300" b="0" i="0">
                <a:solidFill>
                  <a:srgbClr val="FFFFFF"/>
                </a:solidFill>
                <a:latin typeface="Consolas"/>
                <a:ea typeface="Consolas"/>
              </a:rPr>
              <a:t>,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  <a:ea typeface="Consolas"/>
              </a:rPr>
              <a:t>  "departure_intent": </a:t>
            </a:r>
            <a:r>
              <a:rPr sz="1300" b="1" i="0">
                <a:solidFill>
                  <a:srgbClr val="FFEDD5"/>
                </a:solidFill>
                <a:latin typeface="Consolas"/>
                <a:ea typeface="Consolas"/>
              </a:rPr>
              <a:t>false</a:t>
            </a:r>
            <a:r>
              <a:rPr sz="1300" b="0" i="0">
                <a:solidFill>
                  <a:srgbClr val="FFFFFF"/>
                </a:solidFill>
                <a:latin typeface="Consolas"/>
                <a:ea typeface="Consolas"/>
              </a:rPr>
              <a:t>,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  <a:ea typeface="Consolas"/>
              </a:rPr>
              <a:t>  "confidence": </a:t>
            </a:r>
            <a:r>
              <a:rPr sz="1300" b="1" i="0">
                <a:solidFill>
                  <a:srgbClr val="FFEDD5"/>
                </a:solidFill>
                <a:latin typeface="Consolas"/>
                <a:ea typeface="Consolas"/>
              </a:rPr>
              <a:t>0.92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Malgun Gothic"/>
                <a:ea typeface="Malgun Gothic"/>
              </a:rPr>
              <a:t>↓  매핑 테이블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99432"/>
            <a:ext cx="5120640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9943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F1B3C"/>
                </a:solidFill>
                <a:latin typeface="Malgun Gothic"/>
                <a:ea typeface="Malgun Gothic"/>
              </a:rPr>
              <a:t>필드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599432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F1B3C"/>
                </a:solidFill>
                <a:latin typeface="Malgun Gothic"/>
                <a:ea typeface="Malgun Gothic"/>
              </a:rPr>
              <a:t>예시 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459943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F1B3C"/>
                </a:solidFill>
                <a:latin typeface="Malgun Gothic"/>
                <a:ea typeface="Malgun Gothic"/>
              </a:rPr>
              <a:t>예시 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65192"/>
            <a:ext cx="5120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6519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algun Gothic"/>
                <a:ea typeface="Malgun Gothic"/>
              </a:rPr>
              <a:t>CLO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65192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light → 0.5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496519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heavy → 1.2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30952"/>
            <a:ext cx="512064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3095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algun Gothic"/>
                <a:ea typeface="Malgun Gothic"/>
              </a:rPr>
              <a:t>MET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30952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moderate → 1.8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53309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active → 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691640"/>
            <a:ext cx="542239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0" y="192024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9202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ISO 7730 PMV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377440"/>
            <a:ext cx="487375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0F172A"/>
                </a:solidFill>
                <a:latin typeface="Consolas"/>
                <a:ea typeface="Malgun Gothic"/>
              </a:rPr>
              <a:t>PMV = f( Ta, Tr, RH, Va, MET, CLO )  ·  tcl 150회 반복 수렴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017520"/>
            <a:ext cx="69625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01752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-3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56616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Malgun Gothic"/>
                <a:ea typeface="Malgun Gothic"/>
              </a:rPr>
              <a:t>매우
추움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79930" y="3017520"/>
            <a:ext cx="696250" cy="5029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9930" y="301752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9930" y="356616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Malgun Gothic"/>
                <a:ea typeface="Malgun Gothic"/>
              </a:rPr>
              <a:t>추움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76180" y="3017520"/>
            <a:ext cx="696250" cy="50292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6180" y="301752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-1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6180" y="356616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Malgun Gothic"/>
                <a:ea typeface="Malgun Gothic"/>
              </a:rPr>
              <a:t>약간
서늘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72430" y="3017520"/>
            <a:ext cx="69625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2430" y="301752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72430" y="356616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Malgun Gothic"/>
                <a:ea typeface="Malgun Gothic"/>
              </a:rPr>
              <a:t>쾌적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8681" y="3017520"/>
            <a:ext cx="696250" cy="502920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8681" y="301752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+1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8681" y="356616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Malgun Gothic"/>
                <a:ea typeface="Malgun Gothic"/>
              </a:rPr>
              <a:t>약간
따뜻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64931" y="3017520"/>
            <a:ext cx="696250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64931" y="301752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+2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64931" y="356616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Malgun Gothic"/>
                <a:ea typeface="Malgun Gothic"/>
              </a:rPr>
              <a:t>따뜻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61181" y="3017520"/>
            <a:ext cx="69625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61181" y="301752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+3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61181" y="3566160"/>
            <a:ext cx="69625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Malgun Gothic"/>
                <a:ea typeface="Malgun Gothic"/>
              </a:rPr>
              <a:t>매우
더움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206240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1B3C"/>
                </a:solidFill>
                <a:latin typeface="Malgun Gothic"/>
                <a:ea typeface="Malgun Gothic"/>
              </a:rPr>
              <a:t>🎯  시스템 목표 구간:  -0.5  ≤  PMV  ≤  +0.5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4709160"/>
            <a:ext cx="4873752" cy="1463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0" y="4800600"/>
            <a:ext cx="45079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B3C"/>
                </a:solidFill>
                <a:latin typeface="Malgun Gothic"/>
                <a:ea typeface="Malgun Gothic"/>
              </a:rPr>
              <a:t>제어 임계값 (히스테리시스)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5166360"/>
            <a:ext cx="4507992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Malgun Gothic"/>
                <a:ea typeface="Malgun Gothic"/>
              </a:rPr>
              <a:t>·  PMV_ON = </a:t>
            </a:r>
            <a:r>
              <a:rPr sz="1200" b="1" i="0">
                <a:solidFill>
                  <a:srgbClr val="DC2626"/>
                </a:solidFill>
                <a:latin typeface="Consolas"/>
                <a:ea typeface="Consolas"/>
              </a:rPr>
              <a:t>0.5</a:t>
            </a:r>
            <a:r>
              <a:rPr sz="1200" b="0" i="0">
                <a:solidFill>
                  <a:srgbClr val="0F172A"/>
                </a:solidFill>
                <a:latin typeface="Malgun Gothic"/>
                <a:ea typeface="Malgun Gothic"/>
              </a:rPr>
              <a:t>   →  제어 진입 (너무 더움/추움)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Malgun Gothic"/>
                <a:ea typeface="Malgun Gothic"/>
              </a:rPr>
              <a:t>·  PMV_OFF = </a:t>
            </a:r>
            <a:r>
              <a:rPr sz="1200" b="1" i="0">
                <a:solidFill>
                  <a:srgbClr val="059669"/>
                </a:solidFill>
                <a:latin typeface="Consolas"/>
                <a:ea typeface="Consolas"/>
              </a:rPr>
              <a:t>0.2</a:t>
            </a:r>
            <a:r>
              <a:rPr sz="1200" b="0" i="0">
                <a:solidFill>
                  <a:srgbClr val="0F172A"/>
                </a:solidFill>
                <a:latin typeface="Malgun Gothic"/>
                <a:ea typeface="Malgun Gothic"/>
              </a:rPr>
              <a:t>   →  제어 종료 (쾌적 진입)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Malgun Gothic"/>
                <a:ea typeface="Malgun Gothic"/>
              </a:rPr>
              <a:t>·  deadband = </a:t>
            </a:r>
            <a:r>
              <a:rPr sz="1200" b="1" i="0">
                <a:solidFill>
                  <a:srgbClr val="2563EB"/>
                </a:solidFill>
                <a:latin typeface="Consolas"/>
                <a:ea typeface="Consolas"/>
              </a:rPr>
              <a:t>0.12</a:t>
            </a:r>
            <a:r>
              <a:rPr sz="1200" b="0" i="0">
                <a:solidFill>
                  <a:srgbClr val="0F172A"/>
                </a:solidFill>
                <a:latin typeface="Malgun Gothic"/>
                <a:ea typeface="Malgun Gothic"/>
              </a:rPr>
              <a:t>  →  미세 진동 무시, 안정적 제어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611112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동아대학교 컴퓨터공학과  ·  KAJ Edge-VLM HVAC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1B3C"/>
                </a:solidFill>
                <a:latin typeface="Malgun Gothic"/>
                <a:ea typeface="Malgun Gothic"/>
              </a:rPr>
              <a:t>제어(STEP 03) · 쾌적도 기반 지능형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Malgun Gothic"/>
                <a:ea typeface="Malgun Gothic"/>
              </a:rPr>
              <a:t>PID 6단계 로직 + 히스테리시스 + 동적 목표온도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Edge VLM HVAC  /  중간발표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65836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10312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PID 제어 6단계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2024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onsolas"/>
                <a:ea typeface="Malgun Gothic"/>
              </a:rPr>
              <a:t>kp 0.8   ki 0.05   kd 0.3   deadband 0.12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146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6888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오차 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68880"/>
            <a:ext cx="40690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  <a:ea typeface="Malgun Gothic"/>
              </a:rPr>
              <a:t>e = PMV_target - PMV_current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175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97180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Deadband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971800"/>
            <a:ext cx="40690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  <a:ea typeface="Malgun Gothic"/>
              </a:rPr>
              <a:t>|e| &lt; 0.12 → 출력 0 (미세 진동 무시)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5204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2044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47472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비례항 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74720"/>
            <a:ext cx="40690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  <a:ea typeface="Malgun Gothic"/>
              </a:rPr>
              <a:t>P = kp · e   (즉각 반응)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0233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97764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적분항 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977640"/>
            <a:ext cx="40690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  <a:ea typeface="Malgun Gothic"/>
              </a:rPr>
              <a:t>I += ki · e · dt   (누적 오차 제거)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48056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Anti-windup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480560"/>
            <a:ext cx="40690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  <a:ea typeface="Malgun Gothic"/>
              </a:rPr>
              <a:t>I = clip(I, -10, +10)  (적분 폭주 차단)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50292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02920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98348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미분항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983480"/>
            <a:ext cx="40690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  <a:ea typeface="Malgun Gothic"/>
              </a:rPr>
              <a:t>D = kd · (e - e_prev) / dt   (변화율 감쇠)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760720"/>
            <a:ext cx="6035040" cy="411480"/>
          </a:xfrm>
          <a:prstGeom prst="roundRect">
            <a:avLst>
              <a:gd name="adj" fmla="val 30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760720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  <a:ea typeface="Malgun Gothic"/>
              </a:rPr>
              <a:t>출력 = P + I + D   →   목표 온도 조정 (-1.5°C ~ +1.5°C)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040" y="1691640"/>
            <a:ext cx="455371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52360" y="192024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192024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동적 목표온도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2377440"/>
            <a:ext cx="400507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Malgun Gothic"/>
                <a:ea typeface="Malgun Gothic"/>
              </a:rPr>
              <a:t>외기·실내·시간대에 따라 자동 보정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2880360"/>
            <a:ext cx="1828800" cy="5852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  <a:ea typeface="Malgun Gothic"/>
              </a:rPr>
              <a:t>기본값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60" y="299008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2990088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F1B3C"/>
                </a:solidFill>
                <a:latin typeface="Malgun Gothic"/>
                <a:ea typeface="Malgun Gothic"/>
              </a:rPr>
              <a:t>24.0°C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2880360"/>
            <a:ext cx="822960" cy="5852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algun Gothic"/>
                <a:ea typeface="Malgun Gothic"/>
              </a:rPr>
              <a:t>사무실 기본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52360" y="3465576"/>
            <a:ext cx="400507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452360" y="3465576"/>
            <a:ext cx="1828800" cy="5852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  <a:ea typeface="Malgun Gothic"/>
              </a:rPr>
              <a:t>+ 외기 보정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81160" y="3575304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3575304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Malgun Gothic"/>
                <a:ea typeface="Malgun Gothic"/>
              </a:rPr>
              <a:t>±1.5°C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3465576"/>
            <a:ext cx="822960" cy="5852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algun Gothic"/>
                <a:ea typeface="Malgun Gothic"/>
              </a:rPr>
              <a:t>30°C 이상 / 0°C 이하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452360" y="4050792"/>
            <a:ext cx="400507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452360" y="4050792"/>
            <a:ext cx="1828800" cy="5852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  <a:ea typeface="Malgun Gothic"/>
              </a:rPr>
              <a:t>+ 시간대 보정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81160" y="41605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41605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891B2"/>
                </a:solidFill>
                <a:latin typeface="Malgun Gothic"/>
                <a:ea typeface="Malgun Gothic"/>
              </a:rPr>
              <a:t>±0.5°C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4050792"/>
            <a:ext cx="822960" cy="5852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algun Gothic"/>
                <a:ea typeface="Malgun Gothic"/>
              </a:rPr>
              <a:t>야간 −0.5°C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452360" y="4636008"/>
            <a:ext cx="400507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452360" y="4636008"/>
            <a:ext cx="1828800" cy="5852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  <a:ea typeface="Malgun Gothic"/>
              </a:rPr>
              <a:t>+ 인원 보정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81160" y="474573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81160" y="4745736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  <a:latin typeface="Malgun Gothic"/>
                <a:ea typeface="Malgun Gothic"/>
              </a:rPr>
              <a:t>+0.3°C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4636008"/>
            <a:ext cx="822960" cy="5852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algun Gothic"/>
                <a:ea typeface="Malgun Gothic"/>
              </a:rPr>
              <a:t>5인 이상 혼잡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452360" y="5221224"/>
            <a:ext cx="400507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452360" y="5221224"/>
            <a:ext cx="1828800" cy="5852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Malgun Gothic"/>
                <a:ea typeface="Malgun Gothic"/>
              </a:rPr>
              <a:t>= 최종 목표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81160" y="533095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81160" y="5330952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22.5 ~ 26.0°C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81360" y="5221224"/>
            <a:ext cx="822960" cy="58521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algun Gothic"/>
                <a:ea typeface="Malgun Gothic"/>
              </a:rPr>
              <a:t>실시간 갱신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611112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동아대학교 컴퓨터공학과  ·  KAJ Edge-VLM HVAC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1B3C"/>
                </a:solidFill>
                <a:latin typeface="Malgun Gothic"/>
                <a:ea typeface="Malgun Gothic"/>
              </a:rPr>
              <a:t>5단계 상태머신 + 공간별 프로파일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Malgun Gothic"/>
                <a:ea typeface="Malgun Gothic"/>
              </a:rPr>
              <a:t>재실 패턴과 공간 용도에 따라 제어 정책을 자동 전환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Edge VLM HVAC  /  중간발표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71323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상태머신 5-STATE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6060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94A3B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EMPTY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  <a:ea typeface="Malgun Gothic"/>
              </a:rPr>
              <a:t>재실 0명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DBEAFE"/>
                </a:solidFill>
                <a:latin typeface="Malgun Gothic"/>
                <a:ea typeface="Malgun Gothic"/>
              </a:rPr>
              <a:t>대기 / 약한 유지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89504" y="2926080"/>
            <a:ext cx="164592" cy="274320"/>
          </a:xfrm>
          <a:prstGeom prst="rightArrow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63240" y="26060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6974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ARRIVAL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01752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  <a:ea typeface="Malgun Gothic"/>
              </a:rPr>
              <a:t>입실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4612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DBEAFE"/>
                </a:solidFill>
                <a:latin typeface="Malgun Gothic"/>
                <a:ea typeface="Malgun Gothic"/>
              </a:rPr>
              <a:t>선제 냉난방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92624" y="2926080"/>
            <a:ext cx="164592" cy="274320"/>
          </a:xfrm>
          <a:prstGeom prst="rightArrow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66360" y="26060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6974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STEADY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01752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  <a:ea typeface="Malgun Gothic"/>
              </a:rPr>
              <a:t>정상 근무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24612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DBEAFE"/>
                </a:solidFill>
                <a:latin typeface="Malgun Gothic"/>
                <a:ea typeface="Malgun Gothic"/>
              </a:rPr>
              <a:t>PMV 0 목표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26480.0" y="3520440"/>
            <a:ext cx="0.0" cy="320040"/>
          </a:xfrm>
          <a:prstGeom prst="line">
            <a:avLst/>
          </a:prstGeom>
          <a:ln w="19050">
            <a:solidFill>
              <a:srgbClr val="0F1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23360.0" y="3840480"/>
            <a:ext cx="2103120.0" cy="0"/>
          </a:xfrm>
          <a:prstGeom prst="line">
            <a:avLst/>
          </a:prstGeom>
          <a:ln w="19050">
            <a:solidFill>
              <a:srgbClr val="0F1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23360.0" y="3840480"/>
            <a:ext cx="0.0" cy="320040"/>
          </a:xfrm>
          <a:prstGeom prst="line">
            <a:avLst/>
          </a:prstGeom>
          <a:ln w="19050">
            <a:solidFill>
              <a:srgbClr val="0F1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26480.0" y="3840480"/>
            <a:ext cx="0.0" cy="320040"/>
          </a:xfrm>
          <a:prstGeom prst="line">
            <a:avLst/>
          </a:prstGeom>
          <a:ln w="19050">
            <a:solidFill>
              <a:srgbClr val="0F1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26480.0" y="3520440"/>
            <a:ext cx="0.0" cy="320040"/>
          </a:xfrm>
          <a:prstGeom prst="line">
            <a:avLst/>
          </a:prstGeom>
          <a:ln w="19050">
            <a:solidFill>
              <a:srgbClr val="0F1B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063240" y="41605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 w="952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42519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LUNCH_BREAK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5720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  <a:ea typeface="Malgun Gothic"/>
              </a:rPr>
              <a:t>일시 이탈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8006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FFEDD5"/>
                </a:solidFill>
                <a:latin typeface="Malgun Gothic"/>
                <a:ea typeface="Malgun Gothic"/>
              </a:rPr>
              <a:t>완화 운전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66360" y="41605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42519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PRE_DEPARTURE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45720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  <a:ea typeface="Malgun Gothic"/>
              </a:rPr>
              <a:t>퇴실 임박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48006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FFEDD5"/>
                </a:solidFill>
                <a:latin typeface="Malgun Gothic"/>
                <a:ea typeface="Malgun Gothic"/>
              </a:rPr>
              <a:t>목표 완화/정지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349240"/>
            <a:ext cx="658368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422392"/>
            <a:ext cx="6217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B3C"/>
                </a:solidFill>
                <a:latin typeface="Malgun Gothic"/>
                <a:ea typeface="Malgun Gothic"/>
              </a:rPr>
              <a:t>🚪  퇴실 점수 (max 75)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15000"/>
            <a:ext cx="6217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인원 감소 </a:t>
            </a:r>
            <a:r>
              <a:rPr sz="1100" b="1" i="0">
                <a:solidFill>
                  <a:srgbClr val="DC2626"/>
                </a:solidFill>
                <a:latin typeface="Consolas"/>
                <a:ea typeface="Consolas"/>
              </a:rPr>
              <a:t>+30</a:t>
            </a:r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   외투 착용 </a:t>
            </a:r>
            <a:r>
              <a:rPr sz="1100" b="1" i="0">
                <a:solidFill>
                  <a:srgbClr val="DC2626"/>
                </a:solidFill>
                <a:latin typeface="Consolas"/>
                <a:ea typeface="Consolas"/>
              </a:rPr>
              <a:t>+25</a:t>
            </a:r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   기립 </a:t>
            </a:r>
            <a:r>
              <a:rPr sz="1100" b="1" i="0">
                <a:solidFill>
                  <a:srgbClr val="DC2626"/>
                </a:solidFill>
                <a:latin typeface="Consolas"/>
                <a:ea typeface="Consolas"/>
              </a:rPr>
              <a:t>+10</a:t>
            </a:r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   퇴실 시간대 </a:t>
            </a:r>
            <a:r>
              <a:rPr sz="1100" b="1" i="0">
                <a:solidFill>
                  <a:srgbClr val="DC2626"/>
                </a:solidFill>
                <a:latin typeface="Consolas"/>
                <a:ea typeface="Consolas"/>
              </a:rPr>
              <a:t>+10</a:t>
            </a:r>
            <a:r>
              <a:rPr sz="1100" b="0" i="1">
                <a:solidFill>
                  <a:srgbClr val="64748B"/>
                </a:solidFill>
                <a:latin typeface="Malgun Gothic"/>
                <a:ea typeface="Malgun Gothic"/>
              </a:rPr>
              <a:t>   →  40점 이상 시 PRE_DEPARTURE 전이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1691640"/>
            <a:ext cx="400507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55279" y="192024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192024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공간 프로파일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79" y="2423160"/>
            <a:ext cx="1728216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79" y="2423160"/>
            <a:ext cx="1728216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🏢 사무실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74935" y="2423160"/>
            <a:ext cx="1728216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74935" y="2423160"/>
            <a:ext cx="1728216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🏋️ 헬스장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2926080"/>
            <a:ext cx="354787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목표 PMV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310896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0 ± 0.5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4935" y="310896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algun Gothic"/>
                <a:ea typeface="Malgun Gothic"/>
              </a:rPr>
              <a:t>-0.3 ± 0.5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955279" y="3429000"/>
            <a:ext cx="354787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955279" y="3429000"/>
            <a:ext cx="354787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기본 MET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361188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1.1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74935" y="361188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algun Gothic"/>
                <a:ea typeface="Malgun Gothic"/>
              </a:rPr>
              <a:t>3.0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955279" y="3931920"/>
            <a:ext cx="354787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955279" y="3931920"/>
            <a:ext cx="354787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기본 CLO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411480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0.7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74935" y="411480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algun Gothic"/>
                <a:ea typeface="Malgun Gothic"/>
              </a:rPr>
              <a:t>0.3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955279" y="4434840"/>
            <a:ext cx="354787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955279" y="4434840"/>
            <a:ext cx="354787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환기 주기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461772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60분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74935" y="461772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algun Gothic"/>
                <a:ea typeface="Malgun Gothic"/>
              </a:rPr>
              <a:t>20분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955279" y="4937760"/>
            <a:ext cx="354787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955279" y="4937760"/>
            <a:ext cx="354787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정숙 시간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512064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22~06시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74935" y="512064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algun Gothic"/>
                <a:ea typeface="Malgun Gothic"/>
              </a:rPr>
              <a:t>없음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955279" y="5440680"/>
            <a:ext cx="354787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955279" y="5440680"/>
            <a:ext cx="354787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목표 온도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562356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24°C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74935" y="5623560"/>
            <a:ext cx="1728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algun Gothic"/>
                <a:ea typeface="Malgun Gothic"/>
              </a:rPr>
              <a:t>21°C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611112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동아대학교 컴퓨터공학과  ·  KAJ Edge-VLM HVAC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1B3C"/>
                </a:solidFill>
                <a:latin typeface="Malgun Gothic"/>
                <a:ea typeface="Malgun Gothic"/>
              </a:rPr>
              <a:t>구현 현황 · 18개 모듈 +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Malgun Gothic"/>
                <a:ea typeface="Malgun Gothic"/>
              </a:rPr>
              <a:t>Public 저장소 운영, GitHub Actions 3-track 파이프라인 자동화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Edge VLM HVAC  /  중간발표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52704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527048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527048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2563E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96312"/>
            <a:ext cx="1527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Python
모듈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1691640"/>
            <a:ext cx="152704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21408" y="1691640"/>
            <a:ext cx="1527048" cy="914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1874520"/>
            <a:ext cx="1527048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0891B2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2496312"/>
            <a:ext cx="1527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핵심
알고리즘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5616" y="1691640"/>
            <a:ext cx="152704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85616" y="1691640"/>
            <a:ext cx="152704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6" y="1874520"/>
            <a:ext cx="1527048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7C3AED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616" y="2496312"/>
            <a:ext cx="1527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GitHub
워크플로우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9824" y="1691640"/>
            <a:ext cx="152704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49824" y="1691640"/>
            <a:ext cx="1527048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9824" y="1874520"/>
            <a:ext cx="1527048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Malgun Gothic"/>
                <a:ea typeface="Malgun Gothic"/>
              </a:rPr>
              <a:t>85.9%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2496312"/>
            <a:ext cx="1527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캐시
단축률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54680"/>
            <a:ext cx="64922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33756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3756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핵심 모듈 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50208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50208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인식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886200"/>
            <a:ext cx="5074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onsolas"/>
                <a:ea typeface="Malgun Gothic"/>
              </a:rPr>
              <a:t>vlm_processor.py  yolo_detector.py  motion_detector.py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제어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507992"/>
            <a:ext cx="5074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onsolas"/>
                <a:ea typeface="Malgun Gothic"/>
              </a:rPr>
              <a:t>thermal_engine.py  pid_controller.py  state_machine.py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193792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9379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129784"/>
            <a:ext cx="5074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onsolas"/>
                <a:ea typeface="Malgun Gothic"/>
              </a:rPr>
              <a:t>energy_monitor.py  sensor_interface.py  weather_service.py  air_quality_service.py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15584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815584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시각화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751576"/>
            <a:ext cx="5074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onsolas"/>
                <a:ea typeface="Malgun Gothic"/>
              </a:rPr>
              <a:t>hvac_simulator.py  dashboard_ui.py  analytics_engine.py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1691640"/>
            <a:ext cx="464515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60920" y="192024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1920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CI/CD 자동화</a:t>
            </a:r>
          </a:p>
        </p:txBody>
      </p:sp>
      <p:sp>
        <p:nvSpPr>
          <p:cNvPr id="41" name="Oval 40"/>
          <p:cNvSpPr/>
          <p:nvPr/>
        </p:nvSpPr>
        <p:spPr>
          <a:xfrm>
            <a:off x="7360920" y="2578608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257860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2468880"/>
            <a:ext cx="363931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Composite 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2761488"/>
            <a:ext cx="363931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algun Gothic"/>
                <a:ea typeface="Malgun Gothic"/>
              </a:rPr>
              <a:t>환경 설정 재사용 (setup-env)</a:t>
            </a:r>
          </a:p>
        </p:txBody>
      </p:sp>
      <p:sp>
        <p:nvSpPr>
          <p:cNvPr id="45" name="Oval 44"/>
          <p:cNvSpPr/>
          <p:nvPr/>
        </p:nvSpPr>
        <p:spPr>
          <a:xfrm>
            <a:off x="7360920" y="3172968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17296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3063240"/>
            <a:ext cx="363931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Reusable Workflow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3355848"/>
            <a:ext cx="363931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algun Gothic"/>
                <a:ea typeface="Malgun Gothic"/>
              </a:rPr>
              <a:t>임포트/PMV/PID 단위 테스트</a:t>
            </a:r>
          </a:p>
        </p:txBody>
      </p:sp>
      <p:sp>
        <p:nvSpPr>
          <p:cNvPr id="49" name="Oval 48"/>
          <p:cNvSpPr/>
          <p:nvPr/>
        </p:nvSpPr>
        <p:spPr>
          <a:xfrm>
            <a:off x="7360920" y="3767328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376732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3657600"/>
            <a:ext cx="363931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Matrix 테스트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3950208"/>
            <a:ext cx="363931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algun Gothic"/>
                <a:ea typeface="Malgun Gothic"/>
              </a:rPr>
              <a:t>Python 3.10/3.11 × Ubuntu/macOS</a:t>
            </a:r>
          </a:p>
        </p:txBody>
      </p:sp>
      <p:sp>
        <p:nvSpPr>
          <p:cNvPr id="53" name="Oval 52"/>
          <p:cNvSpPr/>
          <p:nvPr/>
        </p:nvSpPr>
        <p:spPr>
          <a:xfrm>
            <a:off x="7360920" y="4361688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60920" y="436168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4251960"/>
            <a:ext cx="363931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선택적 배포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4544568"/>
            <a:ext cx="363931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algun Gothic"/>
                <a:ea typeface="Malgun Gothic"/>
              </a:rPr>
              <a:t>변경 파일 감지 → 필요 Job만</a:t>
            </a:r>
          </a:p>
        </p:txBody>
      </p:sp>
      <p:sp>
        <p:nvSpPr>
          <p:cNvPr id="57" name="Oval 56"/>
          <p:cNvSpPr/>
          <p:nvPr/>
        </p:nvSpPr>
        <p:spPr>
          <a:xfrm>
            <a:off x="7360920" y="4956048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60920" y="495604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846320"/>
            <a:ext cx="363931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1B3C"/>
                </a:solidFill>
                <a:latin typeface="Malgun Gothic"/>
                <a:ea typeface="Malgun Gothic"/>
              </a:rPr>
              <a:t>캐시 벤치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5138928"/>
            <a:ext cx="363931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algun Gothic"/>
                <a:ea typeface="Malgun Gothic"/>
              </a:rPr>
              <a:t>Cold 78s → Warm 11s (−85.9%)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60920" y="5577840"/>
            <a:ext cx="4096512" cy="502920"/>
          </a:xfrm>
          <a:prstGeom prst="roundRect">
            <a:avLst>
              <a:gd name="adj" fmla="val 30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60920" y="5577840"/>
            <a:ext cx="40965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BEAFE"/>
                </a:solidFill>
                <a:latin typeface="Malgun Gothic"/>
                <a:ea typeface="Malgun Gothic"/>
              </a:rPr>
              <a:t>📦  Public </a:t>
            </a:r>
            <a:r>
              <a:rPr sz="1100" b="0" i="0">
                <a:solidFill>
                  <a:srgbClr val="FFFFFF"/>
                </a:solidFill>
                <a:latin typeface="Consolas"/>
                <a:ea typeface="Consolas"/>
              </a:rPr>
              <a:t>github.com/KAJ-EdgeVLM-HVAC-Project/edge-vlm-hvac-system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611112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동아대학교 컴퓨터공학과  ·  KAJ Edge-VLM HVAC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1B3C"/>
                </a:solidFill>
                <a:latin typeface="Malgun Gothic"/>
                <a:ea typeface="Malgun Gothic"/>
              </a:rPr>
              <a:t>16주 로드맵 · 현재 12주차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Malgun Gothic"/>
                <a:ea typeface="Malgun Gothic"/>
              </a:rPr>
              <a:t>Phase 1~2 완료, Phase 3 (ML 고도화) 진행 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Edge VLM HVAC  /  중간발표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74552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818638" cy="548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81863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5838" y="2103120"/>
            <a:ext cx="2818638" cy="548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5838" y="2103120"/>
            <a:ext cx="281863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Phase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75838.0" y="2103120"/>
            <a:ext cx="0.0" cy="54864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094476" y="2103120"/>
            <a:ext cx="2818638" cy="5486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4476" y="2103120"/>
            <a:ext cx="281863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Phase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4476.0" y="2103120"/>
            <a:ext cx="0.0" cy="54864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913114" y="2103120"/>
            <a:ext cx="2818638" cy="5486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3114" y="2103120"/>
            <a:ext cx="281863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</a:rPr>
              <a:t>Phase 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13114.0" y="2103120"/>
            <a:ext cx="0.0" cy="54864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13114.0" y="1737360"/>
            <a:ext cx="0.0" cy="128016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5874" y="141732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5874" y="141732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⚑  현재 12주차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43200"/>
            <a:ext cx="281863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W 1-4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5838" y="2743200"/>
            <a:ext cx="281863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W 5-8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76" y="2743200"/>
            <a:ext cx="281863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W 9-12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3114" y="2743200"/>
            <a:ext cx="281863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Malgun Gothic"/>
                <a:ea typeface="Malgun Gothic"/>
              </a:rPr>
              <a:t>W 13-16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57600"/>
            <a:ext cx="268147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657600"/>
            <a:ext cx="2681478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657600"/>
            <a:ext cx="268147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Phase 1  ·  ✅ 완료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429768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160520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주제 선정·ADR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" y="477316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636008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아키텍처 설계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" y="5248656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111496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CONTRIBUTING/CODE OF CONDUCT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" y="5724144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586984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GitHub Flow 정착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21558" y="3657600"/>
            <a:ext cx="268147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21558" y="3657600"/>
            <a:ext cx="2681478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1558" y="3657600"/>
            <a:ext cx="268147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Phase 2  ·  ✅ 완료</a:t>
            </a:r>
          </a:p>
        </p:txBody>
      </p:sp>
      <p:sp>
        <p:nvSpPr>
          <p:cNvPr id="40" name="Oval 39"/>
          <p:cNvSpPr/>
          <p:nvPr/>
        </p:nvSpPr>
        <p:spPr>
          <a:xfrm>
            <a:off x="3550158" y="429768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87318" y="4160520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VLM·YOLO·Motion 구현</a:t>
            </a:r>
          </a:p>
        </p:txBody>
      </p:sp>
      <p:sp>
        <p:nvSpPr>
          <p:cNvPr id="42" name="Oval 41"/>
          <p:cNvSpPr/>
          <p:nvPr/>
        </p:nvSpPr>
        <p:spPr>
          <a:xfrm>
            <a:off x="3550158" y="477316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87318" y="4636008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PMV/PID/상태머신</a:t>
            </a:r>
          </a:p>
        </p:txBody>
      </p:sp>
      <p:sp>
        <p:nvSpPr>
          <p:cNvPr id="44" name="Oval 43"/>
          <p:cNvSpPr/>
          <p:nvPr/>
        </p:nvSpPr>
        <p:spPr>
          <a:xfrm>
            <a:off x="3550158" y="5248656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87318" y="5111496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CI/CD Matrix·Reusable</a:t>
            </a:r>
          </a:p>
        </p:txBody>
      </p:sp>
      <p:sp>
        <p:nvSpPr>
          <p:cNvPr id="46" name="Oval 45"/>
          <p:cNvSpPr/>
          <p:nvPr/>
        </p:nvSpPr>
        <p:spPr>
          <a:xfrm>
            <a:off x="3550158" y="5724144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87318" y="5586984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환경 프로파일 4종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85916" y="3657600"/>
            <a:ext cx="268147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85916" y="3657600"/>
            <a:ext cx="2681478" cy="3657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85916" y="3657600"/>
            <a:ext cx="268147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Phase 3  ·  🔄 진행중</a:t>
            </a:r>
          </a:p>
        </p:txBody>
      </p:sp>
      <p:sp>
        <p:nvSpPr>
          <p:cNvPr id="51" name="Oval 50"/>
          <p:cNvSpPr/>
          <p:nvPr/>
        </p:nvSpPr>
        <p:spPr>
          <a:xfrm>
            <a:off x="6414516" y="4297680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1676" y="4160520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통합 대시보드</a:t>
            </a:r>
          </a:p>
        </p:txBody>
      </p:sp>
      <p:sp>
        <p:nvSpPr>
          <p:cNvPr id="53" name="Oval 52"/>
          <p:cNvSpPr/>
          <p:nvPr/>
        </p:nvSpPr>
        <p:spPr>
          <a:xfrm>
            <a:off x="6414516" y="4773168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1676" y="4636008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MET/CLO 데이터 수집</a:t>
            </a:r>
          </a:p>
        </p:txBody>
      </p:sp>
      <p:sp>
        <p:nvSpPr>
          <p:cNvPr id="55" name="Oval 54"/>
          <p:cNvSpPr/>
          <p:nvPr/>
        </p:nvSpPr>
        <p:spPr>
          <a:xfrm>
            <a:off x="6414516" y="5248656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51676" y="5111496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PMV MLP 실험</a:t>
            </a:r>
          </a:p>
        </p:txBody>
      </p:sp>
      <p:sp>
        <p:nvSpPr>
          <p:cNvPr id="57" name="Oval 56"/>
          <p:cNvSpPr/>
          <p:nvPr/>
        </p:nvSpPr>
        <p:spPr>
          <a:xfrm>
            <a:off x="6414516" y="5724144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1676" y="5586984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에너지 로그 분석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0274" y="3657600"/>
            <a:ext cx="268147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50274" y="3657600"/>
            <a:ext cx="2681478" cy="3657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0274" y="3657600"/>
            <a:ext cx="268147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</a:rPr>
              <a:t>Phase 4  ·  ⏳ 예정</a:t>
            </a:r>
          </a:p>
        </p:txBody>
      </p:sp>
      <p:sp>
        <p:nvSpPr>
          <p:cNvPr id="62" name="Oval 61"/>
          <p:cNvSpPr/>
          <p:nvPr/>
        </p:nvSpPr>
        <p:spPr>
          <a:xfrm>
            <a:off x="9278874" y="4297680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6034" y="4160520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Jetson Orin Nano 포팅</a:t>
            </a:r>
          </a:p>
        </p:txBody>
      </p:sp>
      <p:sp>
        <p:nvSpPr>
          <p:cNvPr id="64" name="Oval 63"/>
          <p:cNvSpPr/>
          <p:nvPr/>
        </p:nvSpPr>
        <p:spPr>
          <a:xfrm>
            <a:off x="9278874" y="4773168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16034" y="4636008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TensorRT FP16/INT4</a:t>
            </a:r>
          </a:p>
        </p:txBody>
      </p:sp>
      <p:sp>
        <p:nvSpPr>
          <p:cNvPr id="66" name="Oval 65"/>
          <p:cNvSpPr/>
          <p:nvPr/>
        </p:nvSpPr>
        <p:spPr>
          <a:xfrm>
            <a:off x="9278874" y="5248656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16034" y="5111496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현장 A/B 테스트</a:t>
            </a:r>
          </a:p>
        </p:txBody>
      </p:sp>
      <p:sp>
        <p:nvSpPr>
          <p:cNvPr id="68" name="Oval 67"/>
          <p:cNvSpPr/>
          <p:nvPr/>
        </p:nvSpPr>
        <p:spPr>
          <a:xfrm>
            <a:off x="9278874" y="5724144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6034" y="5586984"/>
            <a:ext cx="222427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최종 발표·논문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611112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동아대학교 컴퓨터공학과  ·  KAJ Edge-VLM HVAC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1B3C"/>
                </a:solidFill>
                <a:latin typeface="Malgun Gothic"/>
                <a:ea typeface="Malgun Gothic"/>
              </a:rPr>
              <a:t>향후 ML 고도화 · Primary + 2 Stretch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Malgun Gothic"/>
                <a:ea typeface="Malgun Gothic"/>
              </a:rPr>
              <a:t>룰 기반 → 데이터 기반으로 점진 전환, 학습에 필요한 데이터는 이미 수집 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algun Gothic"/>
                <a:ea typeface="Malgun Gothic"/>
              </a:rPr>
              <a:t>Edge VLM HVAC  /  중간발표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566160" cy="274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C"/>
                </a:solidFill>
                <a:latin typeface="Malgun Gothic"/>
                <a:ea typeface="Malgun Gothic"/>
              </a:rPr>
              <a:t>PMV 회귀 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DC2626"/>
                </a:solidFill>
                <a:latin typeface="Malgun Gothic"/>
                <a:ea typeface="Malgun Gothic"/>
              </a:rPr>
              <a:t>룰 기반 → 개인화 데이터 기반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520440"/>
            <a:ext cx="30175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77240" y="3840480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입력: 온/습도, MET, CLO, PMV_rule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297680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605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출력: 개인화 보정 PMV_hat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754880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177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학습: 사용자 피드백 ±1 버튼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212080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749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효과: 개인 편차(±0.5 PMV) 보정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40680"/>
            <a:ext cx="3017520" cy="36576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Malgun Gothic"/>
                <a:ea typeface="Malgun Gothic"/>
              </a:rPr>
              <a:t>📊  이미 수집 중: 시간/온도/PMV/제어 로그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169164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1691640"/>
            <a:ext cx="356616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80" y="21488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21488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STRETCH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56032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C"/>
                </a:solidFill>
                <a:latin typeface="Malgun Gothic"/>
                <a:ea typeface="Malgun Gothic"/>
              </a:rPr>
              <a:t>의복 분류 개선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10896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2563EB"/>
                </a:solidFill>
                <a:latin typeface="Malgun Gothic"/>
                <a:ea typeface="Malgun Gothic"/>
              </a:rPr>
              <a:t>VLM 출력 후처리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26280" y="3520440"/>
            <a:ext cx="30175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572000" y="384048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7033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입력: Qwen2-VL 텍스트 설명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0" y="429768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1605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출력: CLO 수치 (0.3 ~ 1.5)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0" y="475488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46177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방법: 사전학습 분류기 fine-tuning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0" y="521208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50749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효과: CLO 추정 정확도 향상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5440680"/>
            <a:ext cx="3017520" cy="36576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544068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Malgun Gothic"/>
                <a:ea typeface="Malgun Gothic"/>
              </a:rPr>
              <a:t>📊  데이터: 이미지 + 라벨 (선택적)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169164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1691640"/>
            <a:ext cx="3566160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21040" y="21488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1488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  <a:ea typeface="Malgun Gothic"/>
              </a:rPr>
              <a:t>STRETCH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560320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C"/>
                </a:solidFill>
                <a:latin typeface="Malgun Gothic"/>
                <a:ea typeface="Malgun Gothic"/>
              </a:rPr>
              <a:t>이상 패턴 탐지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10896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7C3AED"/>
                </a:solidFill>
                <a:latin typeface="Malgun Gothic"/>
                <a:ea typeface="Malgun Gothic"/>
              </a:rPr>
              <a:t>센서/에너지 이상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321040" y="3520440"/>
            <a:ext cx="30175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8366760" y="384048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9640" y="37033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입력: 시계열 로그 (온도/전력)</a:t>
            </a:r>
          </a:p>
        </p:txBody>
      </p:sp>
      <p:sp>
        <p:nvSpPr>
          <p:cNvPr id="50" name="Oval 49"/>
          <p:cNvSpPr/>
          <p:nvPr/>
        </p:nvSpPr>
        <p:spPr>
          <a:xfrm>
            <a:off x="8366760" y="429768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41605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출력: 이상 스코어</a:t>
            </a:r>
          </a:p>
        </p:txBody>
      </p:sp>
      <p:sp>
        <p:nvSpPr>
          <p:cNvPr id="52" name="Oval 51"/>
          <p:cNvSpPr/>
          <p:nvPr/>
        </p:nvSpPr>
        <p:spPr>
          <a:xfrm>
            <a:off x="8366760" y="475488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9640" y="46177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방법: Isolation Forest (baseline)</a:t>
            </a:r>
          </a:p>
        </p:txBody>
      </p:sp>
      <p:sp>
        <p:nvSpPr>
          <p:cNvPr id="54" name="Oval 53"/>
          <p:cNvSpPr/>
          <p:nvPr/>
        </p:nvSpPr>
        <p:spPr>
          <a:xfrm>
            <a:off x="8366760" y="521208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5074920"/>
            <a:ext cx="2880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  <a:ea typeface="Malgun Gothic"/>
              </a:rPr>
              <a:t>효과: 고장·누전 조기 감지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5440680"/>
            <a:ext cx="3017520" cy="365760"/>
          </a:xfrm>
          <a:prstGeom prst="roundRect">
            <a:avLst>
              <a:gd name="adj" fmla="val 3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544068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  <a:latin typeface="Malgun Gothic"/>
                <a:ea typeface="Malgun Gothic"/>
              </a:rPr>
              <a:t>📊  데이터: 에너지 로그 축적 중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6126480"/>
            <a:ext cx="11274552" cy="411480"/>
          </a:xfrm>
          <a:prstGeom prst="roundRect">
            <a:avLst>
              <a:gd name="adj" fmla="val 40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126480"/>
            <a:ext cx="11274552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DBEAFE"/>
                </a:solidFill>
                <a:latin typeface="Malgun Gothic"/>
                <a:ea typeface="Malgun Gothic"/>
              </a:rPr>
              <a:t>원칙: </a:t>
            </a:r>
            <a:r>
              <a:rPr sz="1300" b="0" i="0">
                <a:solidFill>
                  <a:srgbClr val="FFFFFF"/>
                </a:solidFill>
                <a:latin typeface="Malgun Gothic"/>
                <a:ea typeface="Malgun Gothic"/>
              </a:rPr>
              <a:t>ML은 이미 돌아가는 룰 기반 시스템의 </a:t>
            </a:r>
            <a:r>
              <a:rPr sz="1300" b="1" i="1">
                <a:solidFill>
                  <a:srgbClr val="DBEAFE"/>
                </a:solidFill>
                <a:latin typeface="Malgun Gothic"/>
                <a:ea typeface="Malgun Gothic"/>
              </a:rPr>
              <a:t>보조</a:t>
            </a:r>
            <a:r>
              <a:rPr sz="1300" b="0" i="0">
                <a:solidFill>
                  <a:srgbClr val="FFFFFF"/>
                </a:solidFill>
                <a:latin typeface="Malgun Gothic"/>
                <a:ea typeface="Malgun Gothic"/>
              </a:rPr>
              <a:t>로 사용. 실패해도 서비스는 정상 동작.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611112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동아대학교 컴퓨터공학과  ·  KAJ Edge-VLM HVAC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6611112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Malgun Gothic"/>
                <a:ea typeface="Malgun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400000">
            <a:off x="-731520" y="-457200"/>
            <a:ext cx="320040" cy="8229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400000">
            <a:off x="-182880" y="-457200"/>
            <a:ext cx="320040" cy="822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DBEAFE"/>
                </a:solidFill>
                <a:latin typeface="Malgun Gothic"/>
                <a:ea typeface="Malgun Gothic"/>
              </a:rPr>
              <a:t>카메라 하나가 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Malgun Gothic"/>
                <a:ea typeface="Malgun Gothic"/>
              </a:rPr>
              <a:t>온도계를 넘어 </a:t>
            </a:r>
            <a:r>
              <a:rPr sz="3800" b="1" i="1">
                <a:solidFill>
                  <a:srgbClr val="DBEAFE"/>
                </a:solidFill>
                <a:latin typeface="Malgun Gothic"/>
                <a:ea typeface="Malgun Gothic"/>
              </a:rPr>
              <a:t>공간의 맥락</a:t>
            </a:r>
            <a:r>
              <a:rPr sz="3800" b="1" i="0">
                <a:solidFill>
                  <a:srgbClr val="FFFFFF"/>
                </a:solidFill>
                <a:latin typeface="Malgun Gothic"/>
                <a:ea typeface="Malgun Gothic"/>
              </a:rPr>
              <a:t>을 읽는다.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3566160" cy="457200"/>
          </a:xfrm>
          <a:prstGeom prst="rect">
            <a:avLst/>
          </a:prstGeom>
          <a:solidFill>
            <a:srgbClr val="08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DBEAFE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3291840"/>
            <a:ext cx="3566160" cy="45720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29184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기존 온도 기반 HVAC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291840"/>
            <a:ext cx="356616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29184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Edge VLM HVAC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40"/>
            <a:ext cx="10698480" cy="46863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DBEAFE"/>
                </a:solidFill>
                <a:latin typeface="Malgun Gothic"/>
                <a:ea typeface="Malgun Gothic"/>
              </a:rPr>
              <a:t>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4904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Malgun Gothic"/>
                <a:ea typeface="Malgun Gothic"/>
              </a:rPr>
              <a:t>온도 1개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74904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사람 수 + 활동 + 의복 + 온도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17670"/>
            <a:ext cx="10698480" cy="468630"/>
          </a:xfrm>
          <a:prstGeom prst="rect">
            <a:avLst/>
          </a:prstGeom>
          <a:solidFill>
            <a:srgbClr val="1C2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1767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DBEAFE"/>
                </a:solidFill>
                <a:latin typeface="Malgun Gothic"/>
                <a:ea typeface="Malgun Gothic"/>
              </a:rPr>
              <a:t>쾌적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21767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Malgun Gothic"/>
                <a:ea typeface="Malgun Gothic"/>
              </a:rPr>
              <a:t>설정 온도 도달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21767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PMV 0 수렴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86300"/>
            <a:ext cx="10698480" cy="46863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8630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DBEAFE"/>
                </a:solidFill>
                <a:latin typeface="Malgun Gothic"/>
                <a:ea typeface="Malgun Gothic"/>
              </a:rPr>
              <a:t>제어 반응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8630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Malgun Gothic"/>
                <a:ea typeface="Malgun Gothic"/>
              </a:rPr>
              <a:t>고정 임계값 ON/OFF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68630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PID + 히스테리시스 + 상태머신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54930"/>
            <a:ext cx="10698480" cy="468630"/>
          </a:xfrm>
          <a:prstGeom prst="rect">
            <a:avLst/>
          </a:prstGeom>
          <a:solidFill>
            <a:srgbClr val="1C2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5493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DBEAFE"/>
                </a:solidFill>
                <a:latin typeface="Malgun Gothic"/>
                <a:ea typeface="Malgun Gothic"/>
              </a:rPr>
              <a:t>확장성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15493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Malgun Gothic"/>
                <a:ea typeface="Malgun Gothic"/>
              </a:rPr>
              <a:t>건물별 재설정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154930"/>
            <a:ext cx="3383280" cy="46863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</a:rPr>
              <a:t>공간 프로파일 플러그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3749040.0"/>
            <a:ext cx="10698480" cy="0.0"/>
          </a:xfrm>
          <a:prstGeom prst="line">
            <a:avLst/>
          </a:prstGeom>
          <a:ln w="9525">
            <a:solidFill>
              <a:srgbClr val="0810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" y="4217670.0"/>
            <a:ext cx="10698480" cy="0.0"/>
          </a:xfrm>
          <a:prstGeom prst="line">
            <a:avLst/>
          </a:prstGeom>
          <a:ln w="9525">
            <a:solidFill>
              <a:srgbClr val="0810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1520" y="4686300.0"/>
            <a:ext cx="10698480" cy="0.0"/>
          </a:xfrm>
          <a:prstGeom prst="line">
            <a:avLst/>
          </a:prstGeom>
          <a:ln w="9525">
            <a:solidFill>
              <a:srgbClr val="0810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" y="5154930.0"/>
            <a:ext cx="10698480" cy="0.0"/>
          </a:xfrm>
          <a:prstGeom prst="line">
            <a:avLst/>
          </a:prstGeom>
          <a:ln w="9525">
            <a:solidFill>
              <a:srgbClr val="0810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97680.0" y="3291840"/>
            <a:ext cx="0.0" cy="2331720"/>
          </a:xfrm>
          <a:prstGeom prst="line">
            <a:avLst/>
          </a:prstGeom>
          <a:ln w="9525">
            <a:solidFill>
              <a:srgbClr val="0810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63840.0" y="3291840"/>
            <a:ext cx="0.0" cy="2331720"/>
          </a:xfrm>
          <a:prstGeom prst="line">
            <a:avLst/>
          </a:prstGeom>
          <a:ln w="9525">
            <a:solidFill>
              <a:srgbClr val="0810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0" y="5852160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</a:rPr>
              <a:t>감사합니다   ·   Q &amp;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DBEAFE"/>
                </a:solidFill>
                <a:latin typeface="Consolas"/>
                <a:ea typeface="Malgun Gothic"/>
              </a:rPr>
              <a:t>github.com/KAJ-EdgeVLM-HVAC-Project/edge-vlm-hvac-system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